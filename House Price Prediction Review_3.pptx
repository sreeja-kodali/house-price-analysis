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17" r:id="rId5"/>
    <p:sldId id="308" r:id="rId6"/>
    <p:sldId id="325" r:id="rId7"/>
    <p:sldId id="318" r:id="rId8"/>
    <p:sldId id="319" r:id="rId9"/>
    <p:sldId id="320" r:id="rId10"/>
    <p:sldId id="321" r:id="rId11"/>
    <p:sldId id="324" r:id="rId12"/>
    <p:sldId id="3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54" autoAdjust="0"/>
    <p:restoredTop sz="95405" autoAdjust="0"/>
  </p:normalViewPr>
  <p:slideViewPr>
    <p:cSldViewPr snapToGrid="0">
      <p:cViewPr varScale="1">
        <p:scale>
          <a:sx n="55" d="100"/>
          <a:sy n="55" d="100"/>
        </p:scale>
        <p:origin x="736" y="3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599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89687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PycharmProjects/PythonProject/House%20Price%20Prediction%20Dataset.xlsx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1307939"/>
            <a:ext cx="10360152" cy="5029200"/>
          </a:xfrm>
        </p:spPr>
        <p:txBody>
          <a:bodyPr anchor="ctr"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REVIEW-3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PRICE ANALYSIS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400" dirty="0"/>
            </a:br>
            <a:br>
              <a:rPr lang="en-US" sz="4400" dirty="0"/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24AD01HF-Data Analytics and Visualization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294" y="399288"/>
            <a:ext cx="5641848" cy="1399032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656C83-9B1E-9E32-B667-5054AD0DCCE6}"/>
              </a:ext>
            </a:extLst>
          </p:cNvPr>
          <p:cNvSpPr txBox="1"/>
          <p:nvPr/>
        </p:nvSpPr>
        <p:spPr>
          <a:xfrm>
            <a:off x="838200" y="2061411"/>
            <a:ext cx="1036319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prediction of house prices is crucial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Buyers → Avoid overpaying, find affordable options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→ Set competitive and realistic prices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Estate Agents → Provide data-driven advice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Policymakers &amp; Investors → Understand housing market trends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making informed decisions and knowing the true market value of properties.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urban planning, investment strategies, and financial risk management.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968" y="188341"/>
            <a:ext cx="10360152" cy="2843784"/>
          </a:xfrm>
        </p:spPr>
        <p:txBody>
          <a:bodyPr anchor="b">
            <a:normAutofit/>
          </a:bodyPr>
          <a:lstStyle/>
          <a:p>
            <a:r>
              <a:rPr lang="en-US" sz="3200" b="1" dirty="0"/>
              <a:t>PROBLEM STATEMENT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2300606" y="3446076"/>
            <a:ext cx="8109772" cy="2644775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housing market is complex, with prices influenced by factors like size, quality, year built, and location. traditional estimation methods are often inaccurate and lack data-driven insights. This project aims to predict house sale prices using historical data and key features for accurate and reliable valuation.</a:t>
            </a: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003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2517" y="365760"/>
            <a:ext cx="6833616" cy="111252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082039" y="2008632"/>
            <a:ext cx="9849853" cy="4072930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preprocess a housing dataset for analysis.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predictive model that estimates house prices.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data analytics &amp; visualization techniques to: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feature impact (e.g., area, quality, location).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factors influencing house prices.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insightful visualizations (scatterplots,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heatmaps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boxplots).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decision-support system useful for: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Buyers &amp; Sellers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Estate Market Analysis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&amp; Planning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56664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562" y="2025570"/>
            <a:ext cx="11053822" cy="3512916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/>
            </a:br>
            <a:r>
              <a:rPr lang="en-US" sz="2400" b="1" dirty="0"/>
              <a:t>Dataset Source</a:t>
            </a:r>
            <a:r>
              <a:rPr lang="en-US" sz="2400" dirty="0"/>
              <a:t>: </a:t>
            </a:r>
            <a:r>
              <a:rPr lang="en-US" sz="2400" dirty="0">
                <a:hlinkClick r:id="rId2" action="ppaction://hlinkfile"/>
              </a:rPr>
              <a:t>House Price Prediction Dataset.xlsx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Number of Rows: 1459</a:t>
            </a:r>
            <a:br>
              <a:rPr lang="en-US" sz="2400" dirty="0"/>
            </a:br>
            <a:r>
              <a:rPr lang="en-US" sz="2400" dirty="0"/>
              <a:t>Number of Columns: 81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Column Types  </a:t>
            </a:r>
            <a:br>
              <a:rPr lang="en-US" sz="2400" b="1" dirty="0"/>
            </a:br>
            <a:br>
              <a:rPr lang="en-US" sz="2400" dirty="0"/>
            </a:br>
            <a:r>
              <a:rPr lang="en-US" sz="2400" b="1" dirty="0"/>
              <a:t>Numeric Columns: </a:t>
            </a:r>
            <a:r>
              <a:rPr lang="en-US" sz="2400" dirty="0" err="1"/>
              <a:t>SalePrice</a:t>
            </a:r>
            <a:r>
              <a:rPr lang="en-US" sz="2400" dirty="0"/>
              <a:t>, </a:t>
            </a:r>
            <a:r>
              <a:rPr lang="en-US" sz="2400" dirty="0" err="1"/>
              <a:t>LotArea</a:t>
            </a:r>
            <a:r>
              <a:rPr lang="en-US" sz="2400" dirty="0"/>
              <a:t>, </a:t>
            </a:r>
            <a:r>
              <a:rPr lang="en-US" sz="2400" dirty="0" err="1"/>
              <a:t>GrLivArea</a:t>
            </a:r>
            <a:r>
              <a:rPr lang="en-US" sz="2400" dirty="0"/>
              <a:t>, </a:t>
            </a:r>
            <a:r>
              <a:rPr lang="en-US" sz="2400" dirty="0" err="1"/>
              <a:t>YearBuilt</a:t>
            </a:r>
            <a:r>
              <a:rPr lang="en-US" sz="2400" dirty="0"/>
              <a:t>, </a:t>
            </a:r>
            <a:r>
              <a:rPr lang="en-US" sz="2400" dirty="0" err="1"/>
              <a:t>TotalBsmtSF</a:t>
            </a:r>
            <a:r>
              <a:rPr lang="en-US" sz="2400" dirty="0"/>
              <a:t>, GarageArea, </a:t>
            </a:r>
            <a:r>
              <a:rPr lang="en-US" sz="2400" dirty="0" err="1"/>
              <a:t>OverallQual</a:t>
            </a:r>
            <a:r>
              <a:rPr lang="en-US" sz="2400" dirty="0"/>
              <a:t>, etc.</a:t>
            </a:r>
            <a:br>
              <a:rPr lang="en-US" sz="2400" dirty="0"/>
            </a:br>
            <a:r>
              <a:rPr lang="en-US" sz="2400" b="1" dirty="0"/>
              <a:t>Categorical Columns: </a:t>
            </a:r>
            <a:r>
              <a:rPr lang="en-US" sz="2400" dirty="0"/>
              <a:t>Neighborhood, </a:t>
            </a:r>
            <a:r>
              <a:rPr lang="en-US" sz="2400" dirty="0" err="1"/>
              <a:t>MSZoning</a:t>
            </a:r>
            <a:r>
              <a:rPr lang="en-US" sz="2400" dirty="0"/>
              <a:t>, Exterior1st, Street, Condition1, etc.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Target Variable:  </a:t>
            </a:r>
            <a:r>
              <a:rPr lang="en-US" sz="2400" dirty="0" err="1"/>
              <a:t>SalePrice</a:t>
            </a:r>
            <a:r>
              <a:rPr lang="en-US" sz="2400" dirty="0"/>
              <a:t> – column to be predicted.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Observations</a:t>
            </a:r>
            <a:br>
              <a:rPr lang="en-US" sz="2400" dirty="0"/>
            </a:br>
            <a:r>
              <a:rPr lang="en-US" sz="2400" dirty="0"/>
              <a:t>Dataset contains a mix of numeric and categorical features.</a:t>
            </a:r>
            <a:br>
              <a:rPr lang="en-US" sz="2400" dirty="0"/>
            </a:br>
            <a:r>
              <a:rPr lang="en-US" sz="2400" dirty="0"/>
              <a:t>Missing values are present in some columns (e.g., Alley, Fence, </a:t>
            </a:r>
            <a:r>
              <a:rPr lang="en-US" sz="2400" dirty="0" err="1"/>
              <a:t>PoolQC</a:t>
            </a:r>
            <a:r>
              <a:rPr lang="en-US" sz="2400" dirty="0"/>
              <a:t>).</a:t>
            </a:r>
            <a:br>
              <a:rPr lang="en-US" sz="2400" dirty="0"/>
            </a:br>
            <a:r>
              <a:rPr lang="en-US" sz="2400" dirty="0"/>
              <a:t>Outliers are observed in numeric columns such as </a:t>
            </a:r>
            <a:r>
              <a:rPr lang="en-US" sz="2400" dirty="0" err="1"/>
              <a:t>SalePrice</a:t>
            </a:r>
            <a:r>
              <a:rPr lang="en-US" sz="2400" dirty="0"/>
              <a:t> and </a:t>
            </a:r>
            <a:r>
              <a:rPr lang="en-US" sz="2400" dirty="0" err="1"/>
              <a:t>LotArea</a:t>
            </a:r>
            <a:r>
              <a:rPr lang="en-US" sz="2400" dirty="0"/>
              <a:t>.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6DB498-C99F-9194-1F75-1917AD063D07}"/>
              </a:ext>
            </a:extLst>
          </p:cNvPr>
          <p:cNvSpPr txBox="1"/>
          <p:nvPr/>
        </p:nvSpPr>
        <p:spPr>
          <a:xfrm>
            <a:off x="2334228" y="364349"/>
            <a:ext cx="7523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DATASET DESCRIPTION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112927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4680" y="655320"/>
            <a:ext cx="7534656" cy="9144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92480" y="2251956"/>
            <a:ext cx="10561320" cy="3627848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latin typeface="Arial" panose="020B0604020202020204" pitchFamily="34" charset="0"/>
              </a:rPr>
              <a:t>Checked dataset for missing values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columns with too many missing values (&gt;80% missing):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Alley,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PoolQC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Fence,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MiscFeature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Imputed missing values: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Numeric (e.g.,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LotFrontage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GarageYrBlt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Filled with median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Categorical (e.g.,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MSZoning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Exterior1st) → Filled with mode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no null values remained in important columns.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262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200" y="929640"/>
            <a:ext cx="7534656" cy="9144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TREATMENT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2445B02-F104-87B0-2AAA-1834B28A2127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1249363" y="2822526"/>
            <a:ext cx="917942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extreme values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IQR method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Found outliers in columns like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SalePrice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LotArea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capping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Values above upper bound → replaced with upper bound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Values below lower bound → replaced with lower bound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Ensured dataset is more consistent</a:t>
            </a:r>
          </a:p>
        </p:txBody>
      </p:sp>
    </p:spTree>
    <p:extLst>
      <p:ext uri="{BB962C8B-B14F-4D97-AF65-F5344CB8AC3E}">
        <p14:creationId xmlns:p14="http://schemas.microsoft.com/office/powerpoint/2010/main" val="2982695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5120" y="701040"/>
            <a:ext cx="7534656" cy="9144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CLEANED DATASET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EB72D6-C9BC-897B-6E7E-D079EB136C69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821803" y="2904005"/>
            <a:ext cx="1033619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cleaned → No missing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Outliers capped in numeric columns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Shape of dataset remains same (rows &amp; columns unchanged)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Saved final dataset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cleaned_house_data.csv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Ready for further steps (EDA, Model building)</a:t>
            </a:r>
          </a:p>
        </p:txBody>
      </p:sp>
    </p:spTree>
    <p:extLst>
      <p:ext uri="{BB962C8B-B14F-4D97-AF65-F5344CB8AC3E}">
        <p14:creationId xmlns:p14="http://schemas.microsoft.com/office/powerpoint/2010/main" val="658223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184" y="706055"/>
            <a:ext cx="5641848" cy="2514600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61365" y="1273215"/>
            <a:ext cx="6452616" cy="5029200"/>
          </a:xfrm>
        </p:spPr>
        <p:txBody>
          <a:bodyPr anchor="ctr">
            <a:norm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2410030076-NAGA SREEJA KODALI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2410030228-BIJJU ADITHI YADAV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2410030180-Anugu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reddy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2410030396-kandakatla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reddy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16c05727-aa75-4e4a-9b5f-8a80a1165891"/>
    <ds:schemaRef ds:uri="http://schemas.microsoft.com/sharepoint/v3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{C2FD1CD0-B59A-43BB-918F-E405FF7FF1ED}tf11964407_win32</Template>
  <TotalTime>318</TotalTime>
  <Words>521</Words>
  <Application>Microsoft Office PowerPoint</Application>
  <PresentationFormat>Widescreen</PresentationFormat>
  <Paragraphs>56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Courier New</vt:lpstr>
      <vt:lpstr>Gill Sans Nova Light</vt:lpstr>
      <vt:lpstr>Sagona Book</vt:lpstr>
      <vt:lpstr>Times New Roman</vt:lpstr>
      <vt:lpstr>Custom</vt:lpstr>
      <vt:lpstr>REVIEW-3 HOUSE PRICE ANALYSIS   24AD01HF-Data Analytics and Visualization  </vt:lpstr>
      <vt:lpstr>INTRODUCTION</vt:lpstr>
      <vt:lpstr>PROBLEM STATEMENT</vt:lpstr>
      <vt:lpstr>OBJECTIVES</vt:lpstr>
      <vt:lpstr>                                               Dataset Source: House Price Prediction Dataset.xlsx  Number of Rows: 1459 Number of Columns: 81  Column Types    Numeric Columns: SalePrice, LotArea, GrLivArea, YearBuilt, TotalBsmtSF, GarageArea, OverallQual, etc. Categorical Columns: Neighborhood, MSZoning, Exterior1st, Street, Condition1, etc.  Target Variable:  SalePrice – column to be predicted.  Observations Dataset contains a mix of numeric and categorical features. Missing values are present in some columns (e.g., Alley, Fence, PoolQC). Outliers are observed in numeric columns such as SalePrice and LotArea.</vt:lpstr>
      <vt:lpstr>HANDLING MISSING VALUES</vt:lpstr>
      <vt:lpstr>OUTLIER TREATMENT</vt:lpstr>
      <vt:lpstr>FINAL CLEANED DATASET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REVIEW-3 HOUSE PRICE PREDICTION  Course:24AD01HF-Data Analytics and Visualization</dc:title>
  <dc:creator>likithathumma@gmail.com</dc:creator>
  <cp:lastModifiedBy>Naga Sreeja Kodali</cp:lastModifiedBy>
  <cp:revision>15</cp:revision>
  <dcterms:created xsi:type="dcterms:W3CDTF">2025-08-01T07:48:11Z</dcterms:created>
  <dcterms:modified xsi:type="dcterms:W3CDTF">2025-11-06T13:10:39Z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