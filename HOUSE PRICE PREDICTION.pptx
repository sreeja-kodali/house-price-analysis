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5" d="100"/>
          <a:sy n="55" d="100"/>
        </p:scale>
        <p:origin x="1096" y="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11/6/2025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11/6/2025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11/6/2025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IN"/>
            </a:p>
          </p:txBody>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IN"/>
            </a:p>
          </p:txBody>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IN"/>
            </a:p>
          </p:txBody>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IN"/>
            </a:p>
          </p:txBody>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IN"/>
            </a:p>
          </p:txBody>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IN"/>
            </a:p>
          </p:txBody>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IN"/>
            </a:p>
          </p:txBody>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IN"/>
            </a:p>
          </p:txBody>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IN"/>
            </a:p>
          </p:txBody>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IN"/>
            </a:p>
          </p:txBody>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IN"/>
            </a:p>
          </p:txBody>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IN"/>
            </a:p>
          </p:txBody>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IN"/>
            </a:p>
          </p:txBody>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IN"/>
            </a:p>
          </p:txBody>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IN"/>
            </a:p>
          </p:txBody>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IN"/>
            </a:p>
          </p:txBody>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IN"/>
            </a:p>
          </p:txBody>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IN"/>
            </a:p>
          </p:txBody>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IN"/>
            </a:p>
          </p:txBody>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IN"/>
            </a:p>
          </p:txBody>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IN"/>
            </a:p>
          </p:txBody>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IN"/>
            </a:p>
          </p:txBody>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IN"/>
            </a:p>
          </p:txBody>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IN"/>
            </a:p>
          </p:txBody>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11/6/2025</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ouse%20Price%20Prediction%20Dataset.xlsx"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1FF9CEF5-A50D-4B8B-9852-D76F703786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cutout of a house with shadow at the back">
            <a:extLst>
              <a:ext uri="{FF2B5EF4-FFF2-40B4-BE49-F238E27FC236}">
                <a16:creationId xmlns:a16="http://schemas.microsoft.com/office/drawing/2014/main" id="{669530B5-1D60-4D3B-78E2-0CB1D230B8BE}"/>
              </a:ext>
            </a:extLst>
          </p:cNvPr>
          <p:cNvPicPr>
            <a:picLocks noChangeAspect="1"/>
          </p:cNvPicPr>
          <p:nvPr/>
        </p:nvPicPr>
        <p:blipFill>
          <a:blip r:embed="rId2">
            <a:alphaModFix amt="40000"/>
          </a:blip>
          <a:srcRect t="13127"/>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0C5C5C35-9F89-79D6-2157-B744EDBA948D}"/>
              </a:ext>
            </a:extLst>
          </p:cNvPr>
          <p:cNvSpPr>
            <a:spLocks noGrp="1"/>
          </p:cNvSpPr>
          <p:nvPr>
            <p:ph type="ctrTitle"/>
          </p:nvPr>
        </p:nvSpPr>
        <p:spPr>
          <a:xfrm>
            <a:off x="2589213" y="2514600"/>
            <a:ext cx="8915399" cy="2262781"/>
          </a:xfrm>
        </p:spPr>
        <p:txBody>
          <a:bodyPr>
            <a:normAutofit/>
          </a:bodyPr>
          <a:lstStyle/>
          <a:p>
            <a:r>
              <a:rPr lang="en-US" b="1" dirty="0">
                <a:solidFill>
                  <a:schemeClr val="tx1"/>
                </a:solidFill>
              </a:rPr>
              <a:t>HOUSE PRICE ANALYSIS</a:t>
            </a:r>
            <a:endParaRPr lang="en-IN" dirty="0">
              <a:solidFill>
                <a:schemeClr val="tx1"/>
              </a:solidFill>
            </a:endParaRPr>
          </a:p>
        </p:txBody>
      </p:sp>
      <p:sp>
        <p:nvSpPr>
          <p:cNvPr id="3" name="Subtitle 2">
            <a:extLst>
              <a:ext uri="{FF2B5EF4-FFF2-40B4-BE49-F238E27FC236}">
                <a16:creationId xmlns:a16="http://schemas.microsoft.com/office/drawing/2014/main" id="{A6739B2E-FEB7-C8AF-BD07-19677896725D}"/>
              </a:ext>
            </a:extLst>
          </p:cNvPr>
          <p:cNvSpPr>
            <a:spLocks noGrp="1"/>
          </p:cNvSpPr>
          <p:nvPr>
            <p:ph type="subTitle" idx="1"/>
          </p:nvPr>
        </p:nvSpPr>
        <p:spPr>
          <a:xfrm>
            <a:off x="2589213" y="4777379"/>
            <a:ext cx="8915399" cy="1126283"/>
          </a:xfrm>
        </p:spPr>
        <p:txBody>
          <a:bodyPr>
            <a:normAutofit/>
          </a:bodyPr>
          <a:lstStyle/>
          <a:p>
            <a:endParaRPr lang="en-IN"/>
          </a:p>
        </p:txBody>
      </p:sp>
      <p:sp>
        <p:nvSpPr>
          <p:cNvPr id="24" name="Rectangle 23">
            <a:extLst>
              <a:ext uri="{FF2B5EF4-FFF2-40B4-BE49-F238E27FC236}">
                <a16:creationId xmlns:a16="http://schemas.microsoft.com/office/drawing/2014/main" id="{30684D86-C9D1-40C3-A9B6-EC935C7312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2" name="Freeform 33">
            <a:extLst>
              <a:ext uri="{FF2B5EF4-FFF2-40B4-BE49-F238E27FC236}">
                <a16:creationId xmlns:a16="http://schemas.microsoft.com/office/drawing/2014/main" id="{1EDF7896-F56A-49DA-90F3-F5CE8B9833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IN"/>
          </a:p>
        </p:txBody>
      </p:sp>
    </p:spTree>
    <p:extLst>
      <p:ext uri="{BB962C8B-B14F-4D97-AF65-F5344CB8AC3E}">
        <p14:creationId xmlns:p14="http://schemas.microsoft.com/office/powerpoint/2010/main" val="1999974626"/>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A46F010-D160-4609-8979-FFD8C1EA6C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02E49B4-A98D-88FF-71F6-7653B1597BAE}"/>
              </a:ext>
            </a:extLst>
          </p:cNvPr>
          <p:cNvSpPr>
            <a:spLocks noGrp="1"/>
          </p:cNvSpPr>
          <p:nvPr>
            <p:ph type="title"/>
          </p:nvPr>
        </p:nvSpPr>
        <p:spPr>
          <a:xfrm>
            <a:off x="3373062" y="624110"/>
            <a:ext cx="8131550" cy="1280890"/>
          </a:xfrm>
        </p:spPr>
        <p:txBody>
          <a:bodyPr>
            <a:normAutofit/>
          </a:bodyPr>
          <a:lstStyle/>
          <a:p>
            <a:pPr algn="ctr"/>
            <a:r>
              <a:rPr lang="en-IN" sz="4800" b="1" dirty="0"/>
              <a:t>INTRODUCTION</a:t>
            </a:r>
          </a:p>
        </p:txBody>
      </p:sp>
      <p:sp>
        <p:nvSpPr>
          <p:cNvPr id="10" name="Rectangle 9">
            <a:extLst>
              <a:ext uri="{FF2B5EF4-FFF2-40B4-BE49-F238E27FC236}">
                <a16:creationId xmlns:a16="http://schemas.microsoft.com/office/drawing/2014/main" id="{81B8C4F6-C3AC-4C94-8EC7-E4F7B7E9C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285151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0B789310-9859-4942-98C8-3D2F12AAAE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a:solidFill>
            <a:schemeClr val="tx2">
              <a:lumMod val="60000"/>
              <a:lumOff val="40000"/>
              <a:alpha val="40000"/>
            </a:schemeClr>
          </a:solidFill>
        </p:grpSpPr>
        <p:sp>
          <p:nvSpPr>
            <p:cNvPr id="25" name="Freeform 11">
              <a:extLst>
                <a:ext uri="{FF2B5EF4-FFF2-40B4-BE49-F238E27FC236}">
                  <a16:creationId xmlns:a16="http://schemas.microsoft.com/office/drawing/2014/main" id="{FE9E5460-2AA9-4786-B69C-23DBEF3568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grpFill/>
            <a:ln>
              <a:noFill/>
            </a:ln>
          </p:spPr>
          <p:txBody>
            <a:bodyPr/>
            <a:lstStyle/>
            <a:p>
              <a:endParaRPr lang="en-IN"/>
            </a:p>
          </p:txBody>
        </p:sp>
        <p:sp>
          <p:nvSpPr>
            <p:cNvPr id="14" name="Freeform 12">
              <a:extLst>
                <a:ext uri="{FF2B5EF4-FFF2-40B4-BE49-F238E27FC236}">
                  <a16:creationId xmlns:a16="http://schemas.microsoft.com/office/drawing/2014/main" id="{E344A2AF-3860-4427-B13E-98021C17AB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grpFill/>
            <a:ln>
              <a:noFill/>
            </a:ln>
          </p:spPr>
          <p:txBody>
            <a:bodyPr/>
            <a:lstStyle/>
            <a:p>
              <a:endParaRPr lang="en-IN"/>
            </a:p>
          </p:txBody>
        </p:sp>
        <p:sp>
          <p:nvSpPr>
            <p:cNvPr id="15" name="Freeform 13">
              <a:extLst>
                <a:ext uri="{FF2B5EF4-FFF2-40B4-BE49-F238E27FC236}">
                  <a16:creationId xmlns:a16="http://schemas.microsoft.com/office/drawing/2014/main" id="{DDBDD44E-1DC0-48AB-8FEC-E098D91974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grpFill/>
            <a:ln>
              <a:noFill/>
            </a:ln>
          </p:spPr>
          <p:txBody>
            <a:bodyPr/>
            <a:lstStyle/>
            <a:p>
              <a:endParaRPr lang="en-IN"/>
            </a:p>
          </p:txBody>
        </p:sp>
        <p:sp>
          <p:nvSpPr>
            <p:cNvPr id="16" name="Freeform 14">
              <a:extLst>
                <a:ext uri="{FF2B5EF4-FFF2-40B4-BE49-F238E27FC236}">
                  <a16:creationId xmlns:a16="http://schemas.microsoft.com/office/drawing/2014/main" id="{3151FF3E-5E3F-4D82-A684-0003BACEA8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grpFill/>
            <a:ln>
              <a:noFill/>
            </a:ln>
          </p:spPr>
          <p:txBody>
            <a:bodyPr/>
            <a:lstStyle/>
            <a:p>
              <a:endParaRPr lang="en-IN"/>
            </a:p>
          </p:txBody>
        </p:sp>
        <p:sp>
          <p:nvSpPr>
            <p:cNvPr id="17" name="Freeform 15">
              <a:extLst>
                <a:ext uri="{FF2B5EF4-FFF2-40B4-BE49-F238E27FC236}">
                  <a16:creationId xmlns:a16="http://schemas.microsoft.com/office/drawing/2014/main" id="{C6CBF27E-7F0C-4489-95A7-82DE1C0460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grpFill/>
            <a:ln>
              <a:noFill/>
            </a:ln>
          </p:spPr>
          <p:txBody>
            <a:bodyPr/>
            <a:lstStyle/>
            <a:p>
              <a:endParaRPr lang="en-IN"/>
            </a:p>
          </p:txBody>
        </p:sp>
        <p:sp>
          <p:nvSpPr>
            <p:cNvPr id="18" name="Freeform 16">
              <a:extLst>
                <a:ext uri="{FF2B5EF4-FFF2-40B4-BE49-F238E27FC236}">
                  <a16:creationId xmlns:a16="http://schemas.microsoft.com/office/drawing/2014/main" id="{233BE304-221E-425E-A484-4B2E5F405B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grpFill/>
            <a:ln>
              <a:noFill/>
            </a:ln>
          </p:spPr>
          <p:txBody>
            <a:bodyPr/>
            <a:lstStyle/>
            <a:p>
              <a:endParaRPr lang="en-IN"/>
            </a:p>
          </p:txBody>
        </p:sp>
        <p:sp>
          <p:nvSpPr>
            <p:cNvPr id="19" name="Freeform 17">
              <a:extLst>
                <a:ext uri="{FF2B5EF4-FFF2-40B4-BE49-F238E27FC236}">
                  <a16:creationId xmlns:a16="http://schemas.microsoft.com/office/drawing/2014/main" id="{10D5734E-EAEA-4A08-86A9-39BD5563EC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grpFill/>
            <a:ln>
              <a:noFill/>
            </a:ln>
          </p:spPr>
          <p:txBody>
            <a:bodyPr/>
            <a:lstStyle/>
            <a:p>
              <a:endParaRPr lang="en-IN"/>
            </a:p>
          </p:txBody>
        </p:sp>
        <p:sp>
          <p:nvSpPr>
            <p:cNvPr id="20" name="Freeform 18">
              <a:extLst>
                <a:ext uri="{FF2B5EF4-FFF2-40B4-BE49-F238E27FC236}">
                  <a16:creationId xmlns:a16="http://schemas.microsoft.com/office/drawing/2014/main" id="{4D47FE86-98D1-4E35-86E4-16E9A19A64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grpFill/>
            <a:ln>
              <a:noFill/>
            </a:ln>
          </p:spPr>
          <p:txBody>
            <a:bodyPr/>
            <a:lstStyle/>
            <a:p>
              <a:endParaRPr lang="en-IN"/>
            </a:p>
          </p:txBody>
        </p:sp>
        <p:sp>
          <p:nvSpPr>
            <p:cNvPr id="21" name="Freeform 19">
              <a:extLst>
                <a:ext uri="{FF2B5EF4-FFF2-40B4-BE49-F238E27FC236}">
                  <a16:creationId xmlns:a16="http://schemas.microsoft.com/office/drawing/2014/main" id="{F00661F9-B224-4DB1-8EFB-ABF9402BDE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grpFill/>
            <a:ln>
              <a:noFill/>
            </a:ln>
          </p:spPr>
          <p:txBody>
            <a:bodyPr/>
            <a:lstStyle/>
            <a:p>
              <a:endParaRPr lang="en-IN"/>
            </a:p>
          </p:txBody>
        </p:sp>
        <p:sp>
          <p:nvSpPr>
            <p:cNvPr id="22" name="Freeform 20">
              <a:extLst>
                <a:ext uri="{FF2B5EF4-FFF2-40B4-BE49-F238E27FC236}">
                  <a16:creationId xmlns:a16="http://schemas.microsoft.com/office/drawing/2014/main" id="{679DCB4E-8D36-4B7A-AF0C-8399F113AE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grpFill/>
            <a:ln>
              <a:noFill/>
            </a:ln>
          </p:spPr>
          <p:txBody>
            <a:bodyPr/>
            <a:lstStyle/>
            <a:p>
              <a:endParaRPr lang="en-IN"/>
            </a:p>
          </p:txBody>
        </p:sp>
        <p:sp>
          <p:nvSpPr>
            <p:cNvPr id="23" name="Freeform 21">
              <a:extLst>
                <a:ext uri="{FF2B5EF4-FFF2-40B4-BE49-F238E27FC236}">
                  <a16:creationId xmlns:a16="http://schemas.microsoft.com/office/drawing/2014/main" id="{4FAD51F6-D24C-4FD6-BEAE-41F0E5A825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grpFill/>
            <a:ln>
              <a:noFill/>
            </a:ln>
          </p:spPr>
          <p:txBody>
            <a:bodyPr/>
            <a:lstStyle/>
            <a:p>
              <a:endParaRPr lang="en-IN"/>
            </a:p>
          </p:txBody>
        </p:sp>
        <p:sp>
          <p:nvSpPr>
            <p:cNvPr id="24" name="Freeform 22">
              <a:extLst>
                <a:ext uri="{FF2B5EF4-FFF2-40B4-BE49-F238E27FC236}">
                  <a16:creationId xmlns:a16="http://schemas.microsoft.com/office/drawing/2014/main" id="{87AC773F-6D31-458A-9DD7-76566C8A9C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grpFill/>
            <a:ln>
              <a:noFill/>
            </a:ln>
          </p:spPr>
          <p:txBody>
            <a:bodyPr/>
            <a:lstStyle/>
            <a:p>
              <a:endParaRPr lang="en-IN"/>
            </a:p>
          </p:txBody>
        </p:sp>
      </p:grpSp>
      <p:grpSp>
        <p:nvGrpSpPr>
          <p:cNvPr id="26" name="Group 25">
            <a:extLst>
              <a:ext uri="{FF2B5EF4-FFF2-40B4-BE49-F238E27FC236}">
                <a16:creationId xmlns:a16="http://schemas.microsoft.com/office/drawing/2014/main" id="{6F1CEC7A-E419-4950-AA57-B00546C29CA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a:solidFill>
            <a:schemeClr val="tx2">
              <a:lumMod val="75000"/>
              <a:alpha val="70000"/>
            </a:schemeClr>
          </a:solidFill>
        </p:grpSpPr>
        <p:sp>
          <p:nvSpPr>
            <p:cNvPr id="27" name="Freeform 27">
              <a:extLst>
                <a:ext uri="{FF2B5EF4-FFF2-40B4-BE49-F238E27FC236}">
                  <a16:creationId xmlns:a16="http://schemas.microsoft.com/office/drawing/2014/main" id="{7AE7DCD1-5235-45E8-B229-15A3E3962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grpFill/>
            <a:ln>
              <a:noFill/>
            </a:ln>
          </p:spPr>
          <p:txBody>
            <a:bodyPr/>
            <a:lstStyle/>
            <a:p>
              <a:endParaRPr lang="en-IN"/>
            </a:p>
          </p:txBody>
        </p:sp>
        <p:sp>
          <p:nvSpPr>
            <p:cNvPr id="28" name="Freeform 28">
              <a:extLst>
                <a:ext uri="{FF2B5EF4-FFF2-40B4-BE49-F238E27FC236}">
                  <a16:creationId xmlns:a16="http://schemas.microsoft.com/office/drawing/2014/main" id="{C82E58C3-65A5-4079-BF94-E675AA410C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grpFill/>
            <a:ln>
              <a:noFill/>
            </a:ln>
          </p:spPr>
          <p:txBody>
            <a:bodyPr/>
            <a:lstStyle/>
            <a:p>
              <a:endParaRPr lang="en-IN"/>
            </a:p>
          </p:txBody>
        </p:sp>
        <p:sp>
          <p:nvSpPr>
            <p:cNvPr id="29" name="Freeform 29">
              <a:extLst>
                <a:ext uri="{FF2B5EF4-FFF2-40B4-BE49-F238E27FC236}">
                  <a16:creationId xmlns:a16="http://schemas.microsoft.com/office/drawing/2014/main" id="{7AABE1FA-6DC8-4A47-AC5C-F05B9C111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grpFill/>
            <a:ln>
              <a:noFill/>
            </a:ln>
          </p:spPr>
          <p:txBody>
            <a:bodyPr/>
            <a:lstStyle/>
            <a:p>
              <a:endParaRPr lang="en-IN"/>
            </a:p>
          </p:txBody>
        </p:sp>
        <p:sp>
          <p:nvSpPr>
            <p:cNvPr id="30" name="Freeform 30">
              <a:extLst>
                <a:ext uri="{FF2B5EF4-FFF2-40B4-BE49-F238E27FC236}">
                  <a16:creationId xmlns:a16="http://schemas.microsoft.com/office/drawing/2014/main" id="{17BB7298-8900-4C67-B800-BD241F0199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grpFill/>
            <a:ln>
              <a:noFill/>
            </a:ln>
          </p:spPr>
          <p:txBody>
            <a:bodyPr/>
            <a:lstStyle/>
            <a:p>
              <a:endParaRPr lang="en-IN"/>
            </a:p>
          </p:txBody>
        </p:sp>
        <p:sp>
          <p:nvSpPr>
            <p:cNvPr id="31" name="Freeform 31">
              <a:extLst>
                <a:ext uri="{FF2B5EF4-FFF2-40B4-BE49-F238E27FC236}">
                  <a16:creationId xmlns:a16="http://schemas.microsoft.com/office/drawing/2014/main" id="{EE3442F8-53C2-490C-94EF-E423ECB95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grpFill/>
            <a:ln>
              <a:noFill/>
            </a:ln>
          </p:spPr>
          <p:txBody>
            <a:bodyPr/>
            <a:lstStyle/>
            <a:p>
              <a:endParaRPr lang="en-IN"/>
            </a:p>
          </p:txBody>
        </p:sp>
        <p:sp>
          <p:nvSpPr>
            <p:cNvPr id="32" name="Freeform 32">
              <a:extLst>
                <a:ext uri="{FF2B5EF4-FFF2-40B4-BE49-F238E27FC236}">
                  <a16:creationId xmlns:a16="http://schemas.microsoft.com/office/drawing/2014/main" id="{3DBEA916-8B10-493A-8CBF-9B5FA2A4A0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grpFill/>
            <a:ln>
              <a:noFill/>
            </a:ln>
          </p:spPr>
          <p:txBody>
            <a:bodyPr/>
            <a:lstStyle/>
            <a:p>
              <a:endParaRPr lang="en-IN"/>
            </a:p>
          </p:txBody>
        </p:sp>
        <p:sp>
          <p:nvSpPr>
            <p:cNvPr id="33" name="Freeform 33">
              <a:extLst>
                <a:ext uri="{FF2B5EF4-FFF2-40B4-BE49-F238E27FC236}">
                  <a16:creationId xmlns:a16="http://schemas.microsoft.com/office/drawing/2014/main" id="{248DB27B-F9EA-4F81-A746-7D57B768E0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grpFill/>
            <a:ln>
              <a:noFill/>
            </a:ln>
          </p:spPr>
          <p:txBody>
            <a:bodyPr/>
            <a:lstStyle/>
            <a:p>
              <a:endParaRPr lang="en-IN"/>
            </a:p>
          </p:txBody>
        </p:sp>
        <p:sp>
          <p:nvSpPr>
            <p:cNvPr id="34" name="Freeform 34">
              <a:extLst>
                <a:ext uri="{FF2B5EF4-FFF2-40B4-BE49-F238E27FC236}">
                  <a16:creationId xmlns:a16="http://schemas.microsoft.com/office/drawing/2014/main" id="{998E5C90-2A81-4013-AE09-2023B4407C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grpFill/>
            <a:ln>
              <a:noFill/>
            </a:ln>
          </p:spPr>
          <p:txBody>
            <a:bodyPr/>
            <a:lstStyle/>
            <a:p>
              <a:endParaRPr lang="en-IN"/>
            </a:p>
          </p:txBody>
        </p:sp>
        <p:sp>
          <p:nvSpPr>
            <p:cNvPr id="35" name="Freeform 35">
              <a:extLst>
                <a:ext uri="{FF2B5EF4-FFF2-40B4-BE49-F238E27FC236}">
                  <a16:creationId xmlns:a16="http://schemas.microsoft.com/office/drawing/2014/main" id="{86A8318B-7607-4519-8EEB-C7DD509653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grpFill/>
            <a:ln>
              <a:noFill/>
            </a:ln>
          </p:spPr>
          <p:txBody>
            <a:bodyPr/>
            <a:lstStyle/>
            <a:p>
              <a:endParaRPr lang="en-IN"/>
            </a:p>
          </p:txBody>
        </p:sp>
        <p:sp>
          <p:nvSpPr>
            <p:cNvPr id="36" name="Freeform 36">
              <a:extLst>
                <a:ext uri="{FF2B5EF4-FFF2-40B4-BE49-F238E27FC236}">
                  <a16:creationId xmlns:a16="http://schemas.microsoft.com/office/drawing/2014/main" id="{5009FB1B-4865-45DB-8727-F012E3ACA5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grpFill/>
            <a:ln>
              <a:noFill/>
            </a:ln>
          </p:spPr>
          <p:txBody>
            <a:bodyPr/>
            <a:lstStyle/>
            <a:p>
              <a:endParaRPr lang="en-IN"/>
            </a:p>
          </p:txBody>
        </p:sp>
        <p:sp>
          <p:nvSpPr>
            <p:cNvPr id="37" name="Freeform 37">
              <a:extLst>
                <a:ext uri="{FF2B5EF4-FFF2-40B4-BE49-F238E27FC236}">
                  <a16:creationId xmlns:a16="http://schemas.microsoft.com/office/drawing/2014/main" id="{5B209B64-3A98-4B1A-857A-2368AFED67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grpFill/>
            <a:ln>
              <a:noFill/>
            </a:ln>
          </p:spPr>
          <p:txBody>
            <a:bodyPr/>
            <a:lstStyle/>
            <a:p>
              <a:endParaRPr lang="en-IN"/>
            </a:p>
          </p:txBody>
        </p:sp>
        <p:sp>
          <p:nvSpPr>
            <p:cNvPr id="38" name="Freeform 38">
              <a:extLst>
                <a:ext uri="{FF2B5EF4-FFF2-40B4-BE49-F238E27FC236}">
                  <a16:creationId xmlns:a16="http://schemas.microsoft.com/office/drawing/2014/main" id="{EB3B5D03-7AE3-411C-A820-6844E7D0C6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grpFill/>
            <a:ln>
              <a:noFill/>
            </a:ln>
          </p:spPr>
          <p:txBody>
            <a:bodyPr/>
            <a:lstStyle/>
            <a:p>
              <a:endParaRPr lang="en-IN"/>
            </a:p>
          </p:txBody>
        </p:sp>
      </p:grpSp>
      <p:sp>
        <p:nvSpPr>
          <p:cNvPr id="40" name="Freeform 11">
            <a:extLst>
              <a:ext uri="{FF2B5EF4-FFF2-40B4-BE49-F238E27FC236}">
                <a16:creationId xmlns:a16="http://schemas.microsoft.com/office/drawing/2014/main" id="{91328346-8BAD-4616-B50B-5CFDA5648D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59" y="3411452"/>
            <a:ext cx="1098194" cy="514066"/>
          </a:xfrm>
          <a:custGeom>
            <a:avLst/>
            <a:gdLst>
              <a:gd name="connsiteX0" fmla="*/ 10000 w 10044"/>
              <a:gd name="connsiteY0" fmla="*/ 4701 h 9966"/>
              <a:gd name="connsiteX1" fmla="*/ 8559 w 10044"/>
              <a:gd name="connsiteY1" fmla="*/ 188 h 9966"/>
              <a:gd name="connsiteX2" fmla="*/ 8527 w 10044"/>
              <a:gd name="connsiteY2" fmla="*/ 94 h 9966"/>
              <a:gd name="connsiteX3" fmla="*/ 8438 w 10044"/>
              <a:gd name="connsiteY3" fmla="*/ 0 h 9966"/>
              <a:gd name="connsiteX4" fmla="*/ 7867 w 10044"/>
              <a:gd name="connsiteY4" fmla="*/ 0 h 9966"/>
              <a:gd name="connsiteX5" fmla="*/ 0 w 10044"/>
              <a:gd name="connsiteY5" fmla="*/ 70 h 9966"/>
              <a:gd name="connsiteX6" fmla="*/ 3132 w 10044"/>
              <a:gd name="connsiteY6" fmla="*/ 9763 h 9966"/>
              <a:gd name="connsiteX7" fmla="*/ 7867 w 10044"/>
              <a:gd name="connsiteY7" fmla="*/ 9966 h 9966"/>
              <a:gd name="connsiteX8" fmla="*/ 8438 w 10044"/>
              <a:gd name="connsiteY8" fmla="*/ 9966 h 9966"/>
              <a:gd name="connsiteX9" fmla="*/ 8527 w 10044"/>
              <a:gd name="connsiteY9" fmla="*/ 9872 h 9966"/>
              <a:gd name="connsiteX10" fmla="*/ 8559 w 10044"/>
              <a:gd name="connsiteY10" fmla="*/ 9778 h 9966"/>
              <a:gd name="connsiteX11" fmla="*/ 10000 w 10044"/>
              <a:gd name="connsiteY11" fmla="*/ 5265 h 9966"/>
              <a:gd name="connsiteX12" fmla="*/ 10000 w 10044"/>
              <a:gd name="connsiteY12" fmla="*/ 4701 h 9966"/>
              <a:gd name="connsiteX0" fmla="*/ 6839 w 6883"/>
              <a:gd name="connsiteY0" fmla="*/ 4885 h 10168"/>
              <a:gd name="connsiteX1" fmla="*/ 5405 w 6883"/>
              <a:gd name="connsiteY1" fmla="*/ 357 h 10168"/>
              <a:gd name="connsiteX2" fmla="*/ 5373 w 6883"/>
              <a:gd name="connsiteY2" fmla="*/ 262 h 10168"/>
              <a:gd name="connsiteX3" fmla="*/ 5284 w 6883"/>
              <a:gd name="connsiteY3" fmla="*/ 168 h 10168"/>
              <a:gd name="connsiteX4" fmla="*/ 4716 w 6883"/>
              <a:gd name="connsiteY4" fmla="*/ 168 h 10168"/>
              <a:gd name="connsiteX5" fmla="*/ 50 w 6883"/>
              <a:gd name="connsiteY5" fmla="*/ 0 h 10168"/>
              <a:gd name="connsiteX6" fmla="*/ 1 w 6883"/>
              <a:gd name="connsiteY6" fmla="*/ 9964 h 10168"/>
              <a:gd name="connsiteX7" fmla="*/ 4716 w 6883"/>
              <a:gd name="connsiteY7" fmla="*/ 10168 h 10168"/>
              <a:gd name="connsiteX8" fmla="*/ 5284 w 6883"/>
              <a:gd name="connsiteY8" fmla="*/ 10168 h 10168"/>
              <a:gd name="connsiteX9" fmla="*/ 5373 w 6883"/>
              <a:gd name="connsiteY9" fmla="*/ 10074 h 10168"/>
              <a:gd name="connsiteX10" fmla="*/ 5405 w 6883"/>
              <a:gd name="connsiteY10" fmla="*/ 9979 h 10168"/>
              <a:gd name="connsiteX11" fmla="*/ 6839 w 6883"/>
              <a:gd name="connsiteY11" fmla="*/ 5451 h 10168"/>
              <a:gd name="connsiteX12" fmla="*/ 6839 w 6883"/>
              <a:gd name="connsiteY12" fmla="*/ 4885 h 1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83" h="10168">
                <a:moveTo>
                  <a:pt x="6839" y="4885"/>
                </a:moveTo>
                <a:lnTo>
                  <a:pt x="5405" y="357"/>
                </a:lnTo>
                <a:cubicBezTo>
                  <a:pt x="5395" y="325"/>
                  <a:pt x="5383" y="294"/>
                  <a:pt x="5373" y="262"/>
                </a:cubicBezTo>
                <a:cubicBezTo>
                  <a:pt x="5344" y="168"/>
                  <a:pt x="5314" y="168"/>
                  <a:pt x="5284" y="168"/>
                </a:cubicBezTo>
                <a:lnTo>
                  <a:pt x="4716" y="168"/>
                </a:lnTo>
                <a:lnTo>
                  <a:pt x="50" y="0"/>
                </a:lnTo>
                <a:cubicBezTo>
                  <a:pt x="59" y="3322"/>
                  <a:pt x="-8" y="6643"/>
                  <a:pt x="1" y="9964"/>
                </a:cubicBezTo>
                <a:lnTo>
                  <a:pt x="4716" y="10168"/>
                </a:lnTo>
                <a:lnTo>
                  <a:pt x="5284" y="10168"/>
                </a:lnTo>
                <a:cubicBezTo>
                  <a:pt x="5314" y="10168"/>
                  <a:pt x="5344" y="10074"/>
                  <a:pt x="5373" y="10074"/>
                </a:cubicBezTo>
                <a:cubicBezTo>
                  <a:pt x="5373" y="9979"/>
                  <a:pt x="5405" y="9979"/>
                  <a:pt x="5405" y="9979"/>
                </a:cubicBezTo>
                <a:lnTo>
                  <a:pt x="6839" y="5451"/>
                </a:lnTo>
                <a:cubicBezTo>
                  <a:pt x="6898" y="5262"/>
                  <a:pt x="6898" y="5074"/>
                  <a:pt x="6839" y="4885"/>
                </a:cubicBezTo>
                <a:close/>
              </a:path>
            </a:pathLst>
          </a:custGeom>
          <a:solidFill>
            <a:schemeClr val="accent1"/>
          </a:solidFill>
          <a:ln>
            <a:noFill/>
          </a:ln>
        </p:spPr>
        <p:txBody>
          <a:bodyPr/>
          <a:lstStyle/>
          <a:p>
            <a:endParaRPr lang="en-IN"/>
          </a:p>
        </p:txBody>
      </p:sp>
      <p:sp>
        <p:nvSpPr>
          <p:cNvPr id="3" name="Content Placeholder 2">
            <a:extLst>
              <a:ext uri="{FF2B5EF4-FFF2-40B4-BE49-F238E27FC236}">
                <a16:creationId xmlns:a16="http://schemas.microsoft.com/office/drawing/2014/main" id="{D8ED5093-7919-3703-2C93-FFA5671B7F4B}"/>
              </a:ext>
            </a:extLst>
          </p:cNvPr>
          <p:cNvSpPr>
            <a:spLocks noGrp="1"/>
          </p:cNvSpPr>
          <p:nvPr>
            <p:ph idx="1"/>
          </p:nvPr>
        </p:nvSpPr>
        <p:spPr>
          <a:xfrm>
            <a:off x="2984582" y="2317315"/>
            <a:ext cx="9078810" cy="4283025"/>
          </a:xfrm>
        </p:spPr>
        <p:txBody>
          <a:bodyPr>
            <a:noAutofit/>
          </a:bodyPr>
          <a:lstStyle/>
          <a:p>
            <a:pPr marL="285750" indent="-285750">
              <a:buFont typeface="Arial" panose="020B0604020202020204" pitchFamily="34" charset="0"/>
              <a:buChar char="•"/>
            </a:pPr>
            <a:r>
              <a:rPr lang="en-US" sz="2000" dirty="0"/>
              <a:t> </a:t>
            </a:r>
            <a:r>
              <a:rPr lang="en-US" sz="2000" b="1" dirty="0"/>
              <a:t>Why  To Predict House Prices?</a:t>
            </a:r>
            <a:br>
              <a:rPr lang="en-US" sz="2000" dirty="0"/>
            </a:br>
            <a:r>
              <a:rPr lang="en-US" sz="2000" dirty="0"/>
              <a:t>Accurate prediction of house prices is crucial for buyers, sellers, real estate agents, and policymakers. It helps in making informed decisions and understanding the real value of properties.</a:t>
            </a:r>
          </a:p>
          <a:p>
            <a:pPr marL="285750" indent="-285750">
              <a:buFont typeface="Arial" panose="020B0604020202020204" pitchFamily="34" charset="0"/>
              <a:buChar char="•"/>
            </a:pPr>
            <a:r>
              <a:rPr lang="en-US" sz="2000" dirty="0"/>
              <a:t> </a:t>
            </a:r>
            <a:r>
              <a:rPr lang="en-US" sz="2000" b="1" dirty="0"/>
              <a:t>Problem Statement:</a:t>
            </a:r>
            <a:br>
              <a:rPr lang="en-US" sz="2000" dirty="0"/>
            </a:br>
            <a:r>
              <a:rPr lang="en-US" sz="2000" dirty="0"/>
              <a:t>The goal is to predict a house’s sale price using historical data and key features such as size, number of rooms, year built, and neighborhood.</a:t>
            </a:r>
          </a:p>
          <a:p>
            <a:pPr marL="285750" indent="-285750">
              <a:buFont typeface="Arial" panose="020B0604020202020204" pitchFamily="34" charset="0"/>
              <a:buChar char="•"/>
            </a:pPr>
            <a:r>
              <a:rPr lang="en-US" sz="2000" b="1" dirty="0"/>
              <a:t>Objective:</a:t>
            </a:r>
            <a:br>
              <a:rPr lang="en-US" sz="2000" dirty="0"/>
            </a:br>
            <a:r>
              <a:rPr lang="en-US" sz="2000" dirty="0"/>
              <a:t>To develop a predictive model using data analytics and visualization techniques that can estimate the sale price of a house based on selected features.</a:t>
            </a:r>
            <a:endParaRPr lang="en-IN" sz="2000" dirty="0"/>
          </a:p>
          <a:p>
            <a:pPr marL="285750" indent="-285750">
              <a:buFont typeface="Arial" panose="020B0604020202020204" pitchFamily="34" charset="0"/>
              <a:buChar char="•"/>
            </a:pPr>
            <a:endParaRPr lang="en-IN" sz="2000" dirty="0"/>
          </a:p>
          <a:p>
            <a:endParaRPr lang="en-IN" sz="2000" dirty="0"/>
          </a:p>
        </p:txBody>
      </p:sp>
    </p:spTree>
    <p:extLst>
      <p:ext uri="{BB962C8B-B14F-4D97-AF65-F5344CB8AC3E}">
        <p14:creationId xmlns:p14="http://schemas.microsoft.com/office/powerpoint/2010/main" val="25872417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D306B45-25EE-434D-ABA9-A27B79320C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8C9DA8B-0226-FE75-77EB-4540718BD45F}"/>
              </a:ext>
            </a:extLst>
          </p:cNvPr>
          <p:cNvSpPr>
            <a:spLocks noGrp="1"/>
          </p:cNvSpPr>
          <p:nvPr>
            <p:ph type="title"/>
          </p:nvPr>
        </p:nvSpPr>
        <p:spPr>
          <a:xfrm>
            <a:off x="1046019" y="942108"/>
            <a:ext cx="3256550" cy="4969113"/>
          </a:xfrm>
        </p:spPr>
        <p:txBody>
          <a:bodyPr anchor="ctr">
            <a:normAutofit/>
          </a:bodyPr>
          <a:lstStyle/>
          <a:p>
            <a:r>
              <a:rPr lang="en-US" sz="4800" b="1" dirty="0">
                <a:solidFill>
                  <a:schemeClr val="tx1"/>
                </a:solidFill>
              </a:rPr>
              <a:t>DATASET</a:t>
            </a:r>
            <a:endParaRPr lang="en-IN" sz="4800" b="1" dirty="0">
              <a:solidFill>
                <a:schemeClr val="tx1"/>
              </a:solidFill>
            </a:endParaRPr>
          </a:p>
        </p:txBody>
      </p:sp>
      <p:sp>
        <p:nvSpPr>
          <p:cNvPr id="10" name="Rectangle 9">
            <a:extLst>
              <a:ext uri="{FF2B5EF4-FFF2-40B4-BE49-F238E27FC236}">
                <a16:creationId xmlns:a16="http://schemas.microsoft.com/office/drawing/2014/main" id="{0A42F85E-4939-431E-8B4A-EC07C8E0AB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cxnSp>
        <p:nvCxnSpPr>
          <p:cNvPr id="12" name="Straight Connector 11">
            <a:extLst>
              <a:ext uri="{FF2B5EF4-FFF2-40B4-BE49-F238E27FC236}">
                <a16:creationId xmlns:a16="http://schemas.microsoft.com/office/drawing/2014/main" id="{27EBB3F9-D6F7-4F6A-8843-9FEBA15E496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871831"/>
            <a:ext cx="0" cy="3200400"/>
          </a:xfrm>
          <a:prstGeom prst="line">
            <a:avLst/>
          </a:prstGeom>
          <a:ln w="15875">
            <a:solidFill>
              <a:schemeClr val="accent4"/>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5D2B17EF-74EB-4C33-B2E2-8E727B2E7D6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009967" y="0"/>
            <a:ext cx="6176982" cy="6853245"/>
            <a:chOff x="2487613" y="285750"/>
            <a:chExt cx="2428876" cy="5654676"/>
          </a:xfrm>
          <a:solidFill>
            <a:schemeClr val="bg1">
              <a:alpha val="30000"/>
            </a:schemeClr>
          </a:solidFill>
        </p:grpSpPr>
        <p:sp>
          <p:nvSpPr>
            <p:cNvPr id="15" name="Freeform 11">
              <a:extLst>
                <a:ext uri="{FF2B5EF4-FFF2-40B4-BE49-F238E27FC236}">
                  <a16:creationId xmlns:a16="http://schemas.microsoft.com/office/drawing/2014/main" id="{0A5F1F8A-3206-4B86-883F-65E98BB6E4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grpFill/>
            <a:ln>
              <a:noFill/>
            </a:ln>
          </p:spPr>
          <p:txBody>
            <a:bodyPr/>
            <a:lstStyle/>
            <a:p>
              <a:endParaRPr lang="en-IN"/>
            </a:p>
          </p:txBody>
        </p:sp>
        <p:sp>
          <p:nvSpPr>
            <p:cNvPr id="16" name="Freeform 12">
              <a:extLst>
                <a:ext uri="{FF2B5EF4-FFF2-40B4-BE49-F238E27FC236}">
                  <a16:creationId xmlns:a16="http://schemas.microsoft.com/office/drawing/2014/main" id="{6935F8C7-CC88-4243-9786-F3CDBF04A0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grpFill/>
            <a:ln>
              <a:noFill/>
            </a:ln>
          </p:spPr>
          <p:txBody>
            <a:bodyPr/>
            <a:lstStyle/>
            <a:p>
              <a:endParaRPr lang="en-IN"/>
            </a:p>
          </p:txBody>
        </p:sp>
        <p:sp>
          <p:nvSpPr>
            <p:cNvPr id="17" name="Freeform 13">
              <a:extLst>
                <a:ext uri="{FF2B5EF4-FFF2-40B4-BE49-F238E27FC236}">
                  <a16:creationId xmlns:a16="http://schemas.microsoft.com/office/drawing/2014/main" id="{9AF7BAD9-71B3-40D8-A089-EFF7FE67BD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grpFill/>
            <a:ln>
              <a:noFill/>
            </a:ln>
          </p:spPr>
          <p:txBody>
            <a:bodyPr/>
            <a:lstStyle/>
            <a:p>
              <a:endParaRPr lang="en-IN"/>
            </a:p>
          </p:txBody>
        </p:sp>
        <p:sp>
          <p:nvSpPr>
            <p:cNvPr id="18" name="Freeform 14">
              <a:extLst>
                <a:ext uri="{FF2B5EF4-FFF2-40B4-BE49-F238E27FC236}">
                  <a16:creationId xmlns:a16="http://schemas.microsoft.com/office/drawing/2014/main" id="{6467094F-AEF0-4D3B-BB76-8B3C1F08B9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grpFill/>
            <a:ln>
              <a:noFill/>
            </a:ln>
          </p:spPr>
          <p:txBody>
            <a:bodyPr/>
            <a:lstStyle/>
            <a:p>
              <a:endParaRPr lang="en-IN"/>
            </a:p>
          </p:txBody>
        </p:sp>
        <p:sp>
          <p:nvSpPr>
            <p:cNvPr id="19" name="Freeform 15">
              <a:extLst>
                <a:ext uri="{FF2B5EF4-FFF2-40B4-BE49-F238E27FC236}">
                  <a16:creationId xmlns:a16="http://schemas.microsoft.com/office/drawing/2014/main" id="{36F56AF9-DEF1-44E7-BF42-6AAC1AA9D1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grpFill/>
            <a:ln>
              <a:noFill/>
            </a:ln>
          </p:spPr>
          <p:txBody>
            <a:bodyPr/>
            <a:lstStyle/>
            <a:p>
              <a:endParaRPr lang="en-IN"/>
            </a:p>
          </p:txBody>
        </p:sp>
        <p:sp>
          <p:nvSpPr>
            <p:cNvPr id="20" name="Freeform 16">
              <a:extLst>
                <a:ext uri="{FF2B5EF4-FFF2-40B4-BE49-F238E27FC236}">
                  <a16:creationId xmlns:a16="http://schemas.microsoft.com/office/drawing/2014/main" id="{A43EBE71-20BA-4A40-A513-516678089D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grpFill/>
            <a:ln>
              <a:noFill/>
            </a:ln>
          </p:spPr>
          <p:txBody>
            <a:bodyPr/>
            <a:lstStyle/>
            <a:p>
              <a:endParaRPr lang="en-IN"/>
            </a:p>
          </p:txBody>
        </p:sp>
        <p:sp>
          <p:nvSpPr>
            <p:cNvPr id="21" name="Freeform 17">
              <a:extLst>
                <a:ext uri="{FF2B5EF4-FFF2-40B4-BE49-F238E27FC236}">
                  <a16:creationId xmlns:a16="http://schemas.microsoft.com/office/drawing/2014/main" id="{1DB39648-7B38-4D0B-93C5-048EC4A45C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grpFill/>
            <a:ln>
              <a:noFill/>
            </a:ln>
          </p:spPr>
          <p:txBody>
            <a:bodyPr/>
            <a:lstStyle/>
            <a:p>
              <a:endParaRPr lang="en-IN"/>
            </a:p>
          </p:txBody>
        </p:sp>
        <p:sp>
          <p:nvSpPr>
            <p:cNvPr id="22" name="Freeform 18">
              <a:extLst>
                <a:ext uri="{FF2B5EF4-FFF2-40B4-BE49-F238E27FC236}">
                  <a16:creationId xmlns:a16="http://schemas.microsoft.com/office/drawing/2014/main" id="{8DD2661F-DE5F-45EA-B30B-7C65896388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grpFill/>
            <a:ln>
              <a:noFill/>
            </a:ln>
          </p:spPr>
          <p:txBody>
            <a:bodyPr/>
            <a:lstStyle/>
            <a:p>
              <a:endParaRPr lang="en-IN"/>
            </a:p>
          </p:txBody>
        </p:sp>
        <p:sp>
          <p:nvSpPr>
            <p:cNvPr id="23" name="Freeform 19">
              <a:extLst>
                <a:ext uri="{FF2B5EF4-FFF2-40B4-BE49-F238E27FC236}">
                  <a16:creationId xmlns:a16="http://schemas.microsoft.com/office/drawing/2014/main" id="{ABF0A0E5-E68E-4183-A913-228692FD85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4" y="468286"/>
              <a:ext cx="1768475" cy="4262464"/>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grpFill/>
            <a:ln>
              <a:noFill/>
            </a:ln>
          </p:spPr>
          <p:txBody>
            <a:bodyPr/>
            <a:lstStyle/>
            <a:p>
              <a:endParaRPr lang="en-IN"/>
            </a:p>
          </p:txBody>
        </p:sp>
        <p:sp>
          <p:nvSpPr>
            <p:cNvPr id="24" name="Freeform 20">
              <a:extLst>
                <a:ext uri="{FF2B5EF4-FFF2-40B4-BE49-F238E27FC236}">
                  <a16:creationId xmlns:a16="http://schemas.microsoft.com/office/drawing/2014/main" id="{615D8F55-8ACD-4EFE-A832-06E785479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grpFill/>
            <a:ln>
              <a:noFill/>
            </a:ln>
          </p:spPr>
          <p:txBody>
            <a:bodyPr/>
            <a:lstStyle/>
            <a:p>
              <a:endParaRPr lang="en-IN"/>
            </a:p>
          </p:txBody>
        </p:sp>
        <p:sp>
          <p:nvSpPr>
            <p:cNvPr id="25" name="Freeform 21">
              <a:extLst>
                <a:ext uri="{FF2B5EF4-FFF2-40B4-BE49-F238E27FC236}">
                  <a16:creationId xmlns:a16="http://schemas.microsoft.com/office/drawing/2014/main" id="{0FDF4201-8CEC-474B-A6B1-88039B7041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grpFill/>
            <a:ln>
              <a:noFill/>
            </a:ln>
          </p:spPr>
          <p:txBody>
            <a:bodyPr/>
            <a:lstStyle/>
            <a:p>
              <a:endParaRPr lang="en-IN"/>
            </a:p>
          </p:txBody>
        </p:sp>
        <p:sp>
          <p:nvSpPr>
            <p:cNvPr id="26" name="Freeform 22">
              <a:extLst>
                <a:ext uri="{FF2B5EF4-FFF2-40B4-BE49-F238E27FC236}">
                  <a16:creationId xmlns:a16="http://schemas.microsoft.com/office/drawing/2014/main" id="{0F60AEA4-B25F-417E-93FC-59686DFBE5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grpFill/>
            <a:ln>
              <a:noFill/>
            </a:ln>
          </p:spPr>
          <p:txBody>
            <a:bodyPr/>
            <a:lstStyle/>
            <a:p>
              <a:endParaRPr lang="en-IN"/>
            </a:p>
          </p:txBody>
        </p:sp>
      </p:grpSp>
      <p:sp>
        <p:nvSpPr>
          <p:cNvPr id="3" name="Content Placeholder 2">
            <a:extLst>
              <a:ext uri="{FF2B5EF4-FFF2-40B4-BE49-F238E27FC236}">
                <a16:creationId xmlns:a16="http://schemas.microsoft.com/office/drawing/2014/main" id="{C5A103D2-7A55-3144-D918-BF569DC79056}"/>
              </a:ext>
            </a:extLst>
          </p:cNvPr>
          <p:cNvSpPr>
            <a:spLocks noGrp="1"/>
          </p:cNvSpPr>
          <p:nvPr>
            <p:ph idx="1"/>
          </p:nvPr>
        </p:nvSpPr>
        <p:spPr>
          <a:xfrm>
            <a:off x="5049062" y="1871832"/>
            <a:ext cx="6455549" cy="3510578"/>
          </a:xfrm>
        </p:spPr>
        <p:txBody>
          <a:bodyPr anchor="ctr">
            <a:normAutofit/>
          </a:bodyPr>
          <a:lstStyle/>
          <a:p>
            <a:pPr marL="0" lvl="0" indent="0" defTabSz="914400" eaLnBrk="0" fontAlgn="base" hangingPunct="0">
              <a:spcBef>
                <a:spcPct val="0"/>
              </a:spcBef>
              <a:spcAft>
                <a:spcPct val="0"/>
              </a:spcAft>
              <a:buClrTx/>
              <a:buNone/>
            </a:pPr>
            <a:r>
              <a:rPr lang="en-US" altLang="en-US" sz="3200" dirty="0">
                <a:solidFill>
                  <a:schemeClr val="tx2">
                    <a:lumMod val="75000"/>
                  </a:schemeClr>
                </a:solidFill>
                <a:latin typeface="Arial" panose="020B0604020202020204" pitchFamily="34" charset="0"/>
              </a:rPr>
              <a:t>Dataset: Loaded from an Excel file</a:t>
            </a:r>
          </a:p>
          <a:p>
            <a:pPr marL="0" lvl="0" indent="0" defTabSz="914400" eaLnBrk="0" fontAlgn="base" hangingPunct="0">
              <a:spcBef>
                <a:spcPct val="0"/>
              </a:spcBef>
              <a:spcAft>
                <a:spcPct val="0"/>
              </a:spcAft>
              <a:buClrTx/>
              <a:buNone/>
            </a:pPr>
            <a:endParaRPr lang="en-US" altLang="en-US" sz="3200" dirty="0">
              <a:solidFill>
                <a:schemeClr val="tx2">
                  <a:lumMod val="75000"/>
                </a:schemeClr>
              </a:solidFill>
              <a:latin typeface="Arial" panose="020B0604020202020204" pitchFamily="34" charset="0"/>
            </a:endParaRPr>
          </a:p>
          <a:p>
            <a:pPr marL="0" lvl="0" indent="0" defTabSz="914400" eaLnBrk="0" fontAlgn="base" hangingPunct="0">
              <a:spcBef>
                <a:spcPct val="0"/>
              </a:spcBef>
              <a:spcAft>
                <a:spcPct val="0"/>
              </a:spcAft>
              <a:buClrTx/>
              <a:buNone/>
            </a:pPr>
            <a:endParaRPr lang="en-US" altLang="en-US" sz="2000" dirty="0">
              <a:solidFill>
                <a:schemeClr val="tx2">
                  <a:lumMod val="75000"/>
                </a:schemeClr>
              </a:solidFill>
              <a:latin typeface="Arial" panose="020B0604020202020204" pitchFamily="34" charset="0"/>
            </a:endParaRPr>
          </a:p>
          <a:p>
            <a:pPr marL="0" lvl="0" indent="0" eaLnBrk="0" fontAlgn="base" hangingPunct="0">
              <a:spcBef>
                <a:spcPct val="0"/>
              </a:spcBef>
              <a:spcAft>
                <a:spcPct val="0"/>
              </a:spcAft>
              <a:buNone/>
            </a:pPr>
            <a:r>
              <a:rPr lang="en-US" altLang="en-US" sz="2000" dirty="0">
                <a:solidFill>
                  <a:schemeClr val="tx2">
                    <a:lumMod val="75000"/>
                  </a:schemeClr>
                </a:solidFill>
                <a:latin typeface="Arial Unicode MS"/>
              </a:rPr>
              <a:t>dataset = </a:t>
            </a:r>
            <a:r>
              <a:rPr lang="en-US" altLang="en-US" sz="2000" dirty="0" err="1">
                <a:solidFill>
                  <a:schemeClr val="tx2">
                    <a:lumMod val="75000"/>
                  </a:schemeClr>
                </a:solidFill>
                <a:latin typeface="Arial Unicode MS"/>
              </a:rPr>
              <a:t>pd.read_excel</a:t>
            </a:r>
            <a:r>
              <a:rPr lang="en-US" altLang="en-US" sz="2000" dirty="0">
                <a:solidFill>
                  <a:schemeClr val="tx2">
                    <a:lumMod val="75000"/>
                  </a:schemeClr>
                </a:solidFill>
                <a:latin typeface="Arial Unicode MS"/>
              </a:rPr>
              <a:t>("HousePricePrediction.xlsx")</a:t>
            </a:r>
          </a:p>
          <a:p>
            <a:pPr marL="0" lvl="0" indent="0" eaLnBrk="0" fontAlgn="base" hangingPunct="0">
              <a:spcBef>
                <a:spcPct val="0"/>
              </a:spcBef>
              <a:spcAft>
                <a:spcPct val="0"/>
              </a:spcAft>
              <a:buNone/>
            </a:pPr>
            <a:r>
              <a:rPr lang="en-US" altLang="en-US" sz="2000" dirty="0">
                <a:solidFill>
                  <a:schemeClr val="tx2">
                    <a:lumMod val="75000"/>
                  </a:schemeClr>
                </a:solidFill>
                <a:latin typeface="Arial Unicode MS"/>
              </a:rPr>
              <a:t>print(</a:t>
            </a:r>
            <a:r>
              <a:rPr lang="en-US" altLang="en-US" sz="2000" dirty="0" err="1">
                <a:solidFill>
                  <a:schemeClr val="tx2">
                    <a:lumMod val="75000"/>
                  </a:schemeClr>
                </a:solidFill>
                <a:latin typeface="Arial Unicode MS"/>
              </a:rPr>
              <a:t>dataset.head</a:t>
            </a:r>
            <a:r>
              <a:rPr lang="en-US" altLang="en-US" sz="2000" dirty="0">
                <a:solidFill>
                  <a:schemeClr val="tx2">
                    <a:lumMod val="75000"/>
                  </a:schemeClr>
                </a:solidFill>
                <a:latin typeface="Arial Unicode MS"/>
              </a:rPr>
              <a:t>())</a:t>
            </a:r>
          </a:p>
          <a:p>
            <a:pPr marL="0" lvl="0" indent="0" defTabSz="914400" eaLnBrk="0" fontAlgn="base" hangingPunct="0">
              <a:spcBef>
                <a:spcPct val="0"/>
              </a:spcBef>
              <a:spcAft>
                <a:spcPct val="0"/>
              </a:spcAft>
              <a:buClrTx/>
              <a:buNone/>
            </a:pPr>
            <a:endParaRPr lang="en-US" altLang="en-US" sz="2000" dirty="0">
              <a:solidFill>
                <a:schemeClr val="tx2">
                  <a:lumMod val="75000"/>
                </a:schemeClr>
              </a:solidFill>
              <a:latin typeface="Arial Unicode MS"/>
            </a:endParaRPr>
          </a:p>
          <a:p>
            <a:pPr marL="0" lvl="0" indent="0" defTabSz="914400" eaLnBrk="0" fontAlgn="base" hangingPunct="0">
              <a:spcBef>
                <a:spcPct val="0"/>
              </a:spcBef>
              <a:spcAft>
                <a:spcPct val="0"/>
              </a:spcAft>
              <a:buClrTx/>
              <a:buNone/>
            </a:pPr>
            <a:endParaRPr lang="en-US" altLang="en-US" sz="2000" dirty="0">
              <a:solidFill>
                <a:schemeClr val="tx2">
                  <a:lumMod val="75000"/>
                </a:schemeClr>
              </a:solidFill>
              <a:latin typeface="Arial Unicode MS"/>
            </a:endParaRPr>
          </a:p>
          <a:p>
            <a:pPr marL="0" lvl="0" indent="0" defTabSz="914400" eaLnBrk="0" fontAlgn="base" hangingPunct="0">
              <a:spcBef>
                <a:spcPct val="0"/>
              </a:spcBef>
              <a:spcAft>
                <a:spcPct val="0"/>
              </a:spcAft>
              <a:buClrTx/>
              <a:buNone/>
            </a:pPr>
            <a:r>
              <a:rPr lang="en-US" altLang="en-US" sz="2000" dirty="0">
                <a:solidFill>
                  <a:srgbClr val="0070C0"/>
                </a:solidFill>
                <a:latin typeface="Arial Unicode MS"/>
                <a:hlinkClick r:id="rId2" action="ppaction://hlinkfile">
                  <a:extLst>
                    <a:ext uri="{A12FA001-AC4F-418D-AE19-62706E023703}">
                      <ahyp:hlinkClr xmlns:ahyp="http://schemas.microsoft.com/office/drawing/2018/hyperlinkcolor" val="tx"/>
                    </a:ext>
                  </a:extLst>
                </a:hlinkClick>
              </a:rPr>
              <a:t>House Price Prediction Dataset.xlsx</a:t>
            </a:r>
            <a:endParaRPr lang="en-US" altLang="en-US" sz="2000" dirty="0">
              <a:solidFill>
                <a:srgbClr val="0070C0"/>
              </a:solidFill>
              <a:latin typeface="Arial Unicode MS"/>
            </a:endParaRPr>
          </a:p>
        </p:txBody>
      </p:sp>
    </p:spTree>
    <p:extLst>
      <p:ext uri="{BB962C8B-B14F-4D97-AF65-F5344CB8AC3E}">
        <p14:creationId xmlns:p14="http://schemas.microsoft.com/office/powerpoint/2010/main" val="14705850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3C117-C76B-0CD7-2350-CBFDCE3B8CB8}"/>
              </a:ext>
            </a:extLst>
          </p:cNvPr>
          <p:cNvSpPr>
            <a:spLocks noGrp="1"/>
          </p:cNvSpPr>
          <p:nvPr>
            <p:ph type="title"/>
          </p:nvPr>
        </p:nvSpPr>
        <p:spPr>
          <a:xfrm>
            <a:off x="2091847" y="624110"/>
            <a:ext cx="9958191" cy="1280890"/>
          </a:xfrm>
        </p:spPr>
        <p:txBody>
          <a:bodyPr/>
          <a:lstStyle/>
          <a:p>
            <a:r>
              <a:rPr lang="en-US" b="1"/>
              <a:t>Dataset Analysis and House Price Prediction</a:t>
            </a:r>
            <a:endParaRPr lang="en-IN" b="1" dirty="0"/>
          </a:p>
        </p:txBody>
      </p:sp>
      <p:sp>
        <p:nvSpPr>
          <p:cNvPr id="3" name="Content Placeholder 2">
            <a:extLst>
              <a:ext uri="{FF2B5EF4-FFF2-40B4-BE49-F238E27FC236}">
                <a16:creationId xmlns:a16="http://schemas.microsoft.com/office/drawing/2014/main" id="{7BDB226D-0847-E102-C2C0-2FAC6B05A15E}"/>
              </a:ext>
            </a:extLst>
          </p:cNvPr>
          <p:cNvSpPr>
            <a:spLocks noGrp="1"/>
          </p:cNvSpPr>
          <p:nvPr>
            <p:ph idx="1"/>
          </p:nvPr>
        </p:nvSpPr>
        <p:spPr>
          <a:xfrm>
            <a:off x="1440493" y="2133600"/>
            <a:ext cx="10064119" cy="3777622"/>
          </a:xfrm>
        </p:spPr>
        <p:txBody>
          <a:bodyPr>
            <a:noAutofit/>
          </a:bodyPr>
          <a:lstStyle/>
          <a:p>
            <a:r>
              <a:rPr lang="en-IN" sz="2400" b="1" dirty="0"/>
              <a:t>Author:</a:t>
            </a:r>
            <a:br>
              <a:rPr lang="en-IN" sz="2400" dirty="0"/>
            </a:br>
            <a:r>
              <a:rPr lang="en-IN" sz="2400" dirty="0"/>
              <a:t>    Junjie Liu</a:t>
            </a:r>
          </a:p>
          <a:p>
            <a:r>
              <a:rPr lang="en-US" sz="2400" dirty="0"/>
              <a:t>This study is about predicting house prices using machine learning and charts. First, the data was cleaned to remove mistakes. Then, charts like heatmaps, scatter plots, and </a:t>
            </a:r>
            <a:r>
              <a:rPr lang="en-US" sz="2400" dirty="0" err="1"/>
              <a:t>distplots</a:t>
            </a:r>
            <a:r>
              <a:rPr lang="en-US" sz="2400" dirty="0"/>
              <a:t> were used to understand the data. Two models—Random Forest and Linear Regression—were used to predict prices. Random Forest gave better results. The study shows that machine learning can help predict house prices, but we should also think about things like the economy and local rules. In the end, both data and human thinking are important in real estate decisions.</a:t>
            </a:r>
            <a:endParaRPr lang="en-IN" sz="2400" dirty="0"/>
          </a:p>
        </p:txBody>
      </p:sp>
    </p:spTree>
    <p:extLst>
      <p:ext uri="{BB962C8B-B14F-4D97-AF65-F5344CB8AC3E}">
        <p14:creationId xmlns:p14="http://schemas.microsoft.com/office/powerpoint/2010/main" val="20074386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645D2-F10C-FBAE-FB96-08B887FD4F80}"/>
              </a:ext>
            </a:extLst>
          </p:cNvPr>
          <p:cNvSpPr>
            <a:spLocks noGrp="1"/>
          </p:cNvSpPr>
          <p:nvPr>
            <p:ph type="title"/>
          </p:nvPr>
        </p:nvSpPr>
        <p:spPr>
          <a:xfrm>
            <a:off x="2184399" y="624110"/>
            <a:ext cx="9320213" cy="1280890"/>
          </a:xfrm>
        </p:spPr>
        <p:txBody>
          <a:bodyPr>
            <a:normAutofit fontScale="90000"/>
          </a:bodyPr>
          <a:lstStyle/>
          <a:p>
            <a:r>
              <a:rPr lang="en-US" b="1"/>
              <a:t>Interactive Visual Exploratory Data Analysis (EDA) for Predicting House Prices in Metro City</a:t>
            </a:r>
            <a:endParaRPr lang="en-US" b="1" dirty="0"/>
          </a:p>
        </p:txBody>
      </p:sp>
      <p:sp>
        <p:nvSpPr>
          <p:cNvPr id="3" name="Content Placeholder 2">
            <a:extLst>
              <a:ext uri="{FF2B5EF4-FFF2-40B4-BE49-F238E27FC236}">
                <a16:creationId xmlns:a16="http://schemas.microsoft.com/office/drawing/2014/main" id="{EB5E574C-79F9-6E80-A378-AD191CB122AD}"/>
              </a:ext>
            </a:extLst>
          </p:cNvPr>
          <p:cNvSpPr>
            <a:spLocks noGrp="1"/>
          </p:cNvSpPr>
          <p:nvPr>
            <p:ph idx="1"/>
          </p:nvPr>
        </p:nvSpPr>
        <p:spPr>
          <a:xfrm>
            <a:off x="1478071" y="2133600"/>
            <a:ext cx="10571967" cy="4304778"/>
          </a:xfrm>
        </p:spPr>
        <p:txBody>
          <a:bodyPr>
            <a:noAutofit/>
          </a:bodyPr>
          <a:lstStyle/>
          <a:p>
            <a:r>
              <a:rPr lang="en-IN" sz="2000" b="1"/>
              <a:t>Authors:</a:t>
            </a:r>
            <a:r>
              <a:rPr lang="en-IN" sz="2000"/>
              <a:t> </a:t>
            </a:r>
          </a:p>
          <a:p>
            <a:pPr marL="0" indent="0">
              <a:buNone/>
            </a:pPr>
            <a:r>
              <a:rPr lang="en-IN" sz="2000"/>
              <a:t>         Vidyullata Jadhav, Sampada Gulavani</a:t>
            </a:r>
          </a:p>
          <a:p>
            <a:r>
              <a:rPr lang="en-US" sz="2000"/>
              <a:t>This study focuses on understanding house prices using simple data analysis tools instead of complex machine learning. It uses a housing dataset from Kaggle and explores important features like area, square footage, and number of bedrooms. The researchers cleaned the data, handled missing values and outliers, and used charts to study patterns. They found that Kharghar in Mumbai has the most houses for sale, and listed the top 10 areas with the highest property prices. An interactive map of Mumbai was created using the Folium library to show how many houses are available in each area. This type of data analysis helps us see which features affect house prices the most and prepares the data for future use in machine learning if needed.</a:t>
            </a:r>
            <a:endParaRPr lang="en-IN" sz="2000" dirty="0"/>
          </a:p>
        </p:txBody>
      </p:sp>
    </p:spTree>
    <p:extLst>
      <p:ext uri="{BB962C8B-B14F-4D97-AF65-F5344CB8AC3E}">
        <p14:creationId xmlns:p14="http://schemas.microsoft.com/office/powerpoint/2010/main" val="5722918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304A8-66F2-AE70-5D9C-30434D4AA992}"/>
              </a:ext>
            </a:extLst>
          </p:cNvPr>
          <p:cNvSpPr>
            <a:spLocks noGrp="1"/>
          </p:cNvSpPr>
          <p:nvPr>
            <p:ph type="title"/>
          </p:nvPr>
        </p:nvSpPr>
        <p:spPr/>
        <p:txBody>
          <a:bodyPr>
            <a:normAutofit fontScale="90000"/>
          </a:bodyPr>
          <a:lstStyle/>
          <a:p>
            <a:r>
              <a:rPr lang="en-US" b="1" dirty="0"/>
              <a:t>House Prices and COVID‑19 Pandemic Shocks in India: A Nonlinear ARDL Analysis</a:t>
            </a:r>
            <a:endParaRPr lang="en-IN" b="1" dirty="0"/>
          </a:p>
        </p:txBody>
      </p:sp>
      <p:sp>
        <p:nvSpPr>
          <p:cNvPr id="3" name="Content Placeholder 2">
            <a:extLst>
              <a:ext uri="{FF2B5EF4-FFF2-40B4-BE49-F238E27FC236}">
                <a16:creationId xmlns:a16="http://schemas.microsoft.com/office/drawing/2014/main" id="{5C2DD77D-CE1A-BBCB-25D7-53EF1DF2A40A}"/>
              </a:ext>
            </a:extLst>
          </p:cNvPr>
          <p:cNvSpPr>
            <a:spLocks noGrp="1"/>
          </p:cNvSpPr>
          <p:nvPr>
            <p:ph idx="1"/>
          </p:nvPr>
        </p:nvSpPr>
        <p:spPr>
          <a:xfrm>
            <a:off x="1503123" y="2133600"/>
            <a:ext cx="10584493" cy="3777622"/>
          </a:xfrm>
        </p:spPr>
        <p:txBody>
          <a:bodyPr>
            <a:noAutofit/>
          </a:bodyPr>
          <a:lstStyle/>
          <a:p>
            <a:r>
              <a:rPr lang="en-IN" sz="2400" b="1" dirty="0"/>
              <a:t>Authors:</a:t>
            </a:r>
          </a:p>
          <a:p>
            <a:pPr marL="0" indent="0">
              <a:buNone/>
            </a:pPr>
            <a:r>
              <a:rPr lang="en-IN" sz="2400" dirty="0"/>
              <a:t>       Muskan Dugar, Trupti Dandekar </a:t>
            </a:r>
            <a:r>
              <a:rPr lang="en-IN" sz="2400" dirty="0" err="1"/>
              <a:t>Humnekar</a:t>
            </a:r>
            <a:r>
              <a:rPr lang="en-IN" sz="2400" dirty="0"/>
              <a:t>, V. Moovendhan</a:t>
            </a:r>
          </a:p>
          <a:p>
            <a:r>
              <a:rPr lang="en-US" sz="2400" dirty="0"/>
              <a:t>Using panel time-series data from 2010‑2023 across ten Indian cities, this study applies interrupted time series (ITS) and nonlinear ARDL regression to evaluate how COVID‑19 impacted house prices. It explores trends before, during, and after the pandemic using statistical visualizations to illustrate city-wise differences. The results showed that house price growth slowed down after the pandemic but later started to recover. Smaller cities bounced back faster than bigger ones. The visual charts helped clearly show how each city was affected differently by the pandemic.</a:t>
            </a:r>
            <a:endParaRPr lang="en-IN" sz="2400" dirty="0"/>
          </a:p>
        </p:txBody>
      </p:sp>
    </p:spTree>
    <p:extLst>
      <p:ext uri="{BB962C8B-B14F-4D97-AF65-F5344CB8AC3E}">
        <p14:creationId xmlns:p14="http://schemas.microsoft.com/office/powerpoint/2010/main" val="34232676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8FF48-C0FC-F931-22D5-E0F8DD961464}"/>
              </a:ext>
            </a:extLst>
          </p:cNvPr>
          <p:cNvSpPr>
            <a:spLocks noGrp="1"/>
          </p:cNvSpPr>
          <p:nvPr>
            <p:ph type="title"/>
          </p:nvPr>
        </p:nvSpPr>
        <p:spPr>
          <a:xfrm>
            <a:off x="3060700" y="624110"/>
            <a:ext cx="9220200" cy="1280890"/>
          </a:xfrm>
        </p:spPr>
        <p:txBody>
          <a:bodyPr/>
          <a:lstStyle/>
          <a:p>
            <a:r>
              <a:rPr lang="en-US" b="1" dirty="0"/>
              <a:t>House Price Convergence: Evidence from India</a:t>
            </a:r>
            <a:endParaRPr lang="en-IN" b="1" dirty="0"/>
          </a:p>
        </p:txBody>
      </p:sp>
      <p:sp>
        <p:nvSpPr>
          <p:cNvPr id="3" name="Content Placeholder 2">
            <a:extLst>
              <a:ext uri="{FF2B5EF4-FFF2-40B4-BE49-F238E27FC236}">
                <a16:creationId xmlns:a16="http://schemas.microsoft.com/office/drawing/2014/main" id="{4027DE22-142A-508C-36AD-F1FCE2586BBF}"/>
              </a:ext>
            </a:extLst>
          </p:cNvPr>
          <p:cNvSpPr>
            <a:spLocks noGrp="1"/>
          </p:cNvSpPr>
          <p:nvPr>
            <p:ph idx="1"/>
          </p:nvPr>
        </p:nvSpPr>
        <p:spPr>
          <a:xfrm>
            <a:off x="1524000" y="2133600"/>
            <a:ext cx="10477500" cy="4203700"/>
          </a:xfrm>
        </p:spPr>
        <p:txBody>
          <a:bodyPr>
            <a:noAutofit/>
          </a:bodyPr>
          <a:lstStyle/>
          <a:p>
            <a:r>
              <a:rPr lang="en-US" sz="2000" b="1" dirty="0"/>
              <a:t>Authors:</a:t>
            </a:r>
            <a:r>
              <a:rPr lang="en-US" sz="2000" dirty="0"/>
              <a:t> </a:t>
            </a:r>
          </a:p>
          <a:p>
            <a:pPr marL="0" indent="0">
              <a:buNone/>
            </a:pPr>
            <a:r>
              <a:rPr lang="en-US" sz="2000" dirty="0"/>
              <a:t>         Rajesh Raj and D. P. Rath</a:t>
            </a:r>
          </a:p>
          <a:p>
            <a:r>
              <a:rPr lang="en-US" sz="2000" dirty="0"/>
              <a:t>The study “House Price Convergence: Evidence from India” explores whether house prices across 50 Indian cities are moving toward a common trend. Using NHB’s quarterly house price index data and the Phillips–Sul club convergence method, the researchers found that Indian cities do not follow a single pricing path. Instead, they form three distinct groups (or “clubs”) of cities with similar house price trends, while two high-priced cities follow unique patterns. The study also identified key factors—such as initial price level, mortgage access, rent, literacy, and population density—that influence which group a city belongs to. These findings help policymakers, investors, and planners understand how different regions behave in the real estate market and support the need for region-specific housing strategies.</a:t>
            </a:r>
            <a:endParaRPr lang="en-IN" sz="2000" dirty="0"/>
          </a:p>
        </p:txBody>
      </p:sp>
    </p:spTree>
    <p:extLst>
      <p:ext uri="{BB962C8B-B14F-4D97-AF65-F5344CB8AC3E}">
        <p14:creationId xmlns:p14="http://schemas.microsoft.com/office/powerpoint/2010/main" val="17677110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F4141-B791-AC1B-911C-80F5B861364F}"/>
              </a:ext>
            </a:extLst>
          </p:cNvPr>
          <p:cNvSpPr>
            <a:spLocks noGrp="1"/>
          </p:cNvSpPr>
          <p:nvPr>
            <p:ph type="title"/>
          </p:nvPr>
        </p:nvSpPr>
        <p:spPr/>
        <p:txBody>
          <a:bodyPr/>
          <a:lstStyle/>
          <a:p>
            <a:r>
              <a:rPr lang="en-US" b="1" dirty="0"/>
              <a:t>Predicting House Prices Using Multiple Listings Data</a:t>
            </a:r>
            <a:endParaRPr lang="en-IN" b="1" dirty="0"/>
          </a:p>
        </p:txBody>
      </p:sp>
      <p:sp>
        <p:nvSpPr>
          <p:cNvPr id="3" name="Content Placeholder 2">
            <a:extLst>
              <a:ext uri="{FF2B5EF4-FFF2-40B4-BE49-F238E27FC236}">
                <a16:creationId xmlns:a16="http://schemas.microsoft.com/office/drawing/2014/main" id="{98F70134-A650-98E0-F504-BF7A98F7240F}"/>
              </a:ext>
            </a:extLst>
          </p:cNvPr>
          <p:cNvSpPr>
            <a:spLocks noGrp="1"/>
          </p:cNvSpPr>
          <p:nvPr>
            <p:ph idx="1"/>
          </p:nvPr>
        </p:nvSpPr>
        <p:spPr>
          <a:xfrm>
            <a:off x="1435100" y="2133600"/>
            <a:ext cx="10655300" cy="3777622"/>
          </a:xfrm>
        </p:spPr>
        <p:txBody>
          <a:bodyPr>
            <a:noAutofit/>
          </a:bodyPr>
          <a:lstStyle/>
          <a:p>
            <a:r>
              <a:rPr lang="en-IN" sz="2400" b="1" dirty="0"/>
              <a:t>Author:</a:t>
            </a:r>
            <a:r>
              <a:rPr lang="en-IN" sz="2400" dirty="0"/>
              <a:t> </a:t>
            </a:r>
          </a:p>
          <a:p>
            <a:pPr marL="0" indent="0">
              <a:buNone/>
            </a:pPr>
            <a:r>
              <a:rPr lang="en-IN" sz="2400" dirty="0"/>
              <a:t>      Robin Dubin</a:t>
            </a:r>
          </a:p>
          <a:p>
            <a:r>
              <a:rPr lang="en-US" sz="2400" dirty="0"/>
              <a:t>This study focuses on predicting house prices not only by using the property’s own features like size and number of rooms, but also by including information from neighboring houses. It uses standard hedonic regression and adds spatial correlation methods like kriging to account for how nearby home prices affect each other. The findings show that including price data from surrounding homes significantly improves the accuracy of predictions compared to traditional models. The study also highlights some real-world challenges in applying spatial methods like kriging to actual housing listings.</a:t>
            </a:r>
            <a:endParaRPr lang="en-IN" sz="2400" dirty="0"/>
          </a:p>
        </p:txBody>
      </p:sp>
    </p:spTree>
    <p:extLst>
      <p:ext uri="{BB962C8B-B14F-4D97-AF65-F5344CB8AC3E}">
        <p14:creationId xmlns:p14="http://schemas.microsoft.com/office/powerpoint/2010/main" val="23119990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63" name="Rectangle 62">
            <a:extLst>
              <a:ext uri="{FF2B5EF4-FFF2-40B4-BE49-F238E27FC236}">
                <a16:creationId xmlns:a16="http://schemas.microsoft.com/office/drawing/2014/main" id="{B16F0F56-7B4E-43DC-AA4A-7E1896ED14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95736" y="0"/>
            <a:ext cx="7396264"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4" name="Rectangle 63">
            <a:extLst>
              <a:ext uri="{FF2B5EF4-FFF2-40B4-BE49-F238E27FC236}">
                <a16:creationId xmlns:a16="http://schemas.microsoft.com/office/drawing/2014/main" id="{AEAAD1C9-1487-4C1B-8CA2-A565EA7B5B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id="{1A5F4AA7-D436-4D3E-9311-E3CAACDFAD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50424"/>
            <a:ext cx="12192000" cy="230757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477B43A-BFDF-7218-ADAD-000EA1A7CFFD}"/>
              </a:ext>
            </a:extLst>
          </p:cNvPr>
          <p:cNvSpPr>
            <a:spLocks noGrp="1"/>
          </p:cNvSpPr>
          <p:nvPr>
            <p:ph type="title"/>
          </p:nvPr>
        </p:nvSpPr>
        <p:spPr>
          <a:xfrm>
            <a:off x="1742871" y="4912467"/>
            <a:ext cx="9765023" cy="1100405"/>
          </a:xfrm>
        </p:spPr>
        <p:txBody>
          <a:bodyPr>
            <a:noAutofit/>
          </a:bodyPr>
          <a:lstStyle/>
          <a:p>
            <a:r>
              <a:rPr lang="en-US" sz="9600" b="1" dirty="0">
                <a:solidFill>
                  <a:schemeClr val="bg1"/>
                </a:solidFill>
              </a:rPr>
              <a:t>THANK YOU</a:t>
            </a:r>
            <a:endParaRPr lang="en-IN" sz="9600" b="1" dirty="0">
              <a:solidFill>
                <a:schemeClr val="bg1"/>
              </a:solidFill>
            </a:endParaRPr>
          </a:p>
        </p:txBody>
      </p:sp>
      <p:sp>
        <p:nvSpPr>
          <p:cNvPr id="3" name="Content Placeholder 2">
            <a:extLst>
              <a:ext uri="{FF2B5EF4-FFF2-40B4-BE49-F238E27FC236}">
                <a16:creationId xmlns:a16="http://schemas.microsoft.com/office/drawing/2014/main" id="{96F77F8A-6A14-F722-C040-4A64F2BD0C7F}"/>
              </a:ext>
            </a:extLst>
          </p:cNvPr>
          <p:cNvSpPr>
            <a:spLocks noGrp="1"/>
          </p:cNvSpPr>
          <p:nvPr>
            <p:ph idx="1"/>
          </p:nvPr>
        </p:nvSpPr>
        <p:spPr>
          <a:xfrm>
            <a:off x="6238754" y="1099595"/>
            <a:ext cx="5833641" cy="3093662"/>
          </a:xfrm>
        </p:spPr>
        <p:txBody>
          <a:bodyPr>
            <a:normAutofit/>
          </a:bodyPr>
          <a:lstStyle/>
          <a:p>
            <a:pPr marL="0" indent="0">
              <a:buNone/>
            </a:pPr>
            <a:r>
              <a:rPr lang="en-US" b="1" dirty="0"/>
              <a:t>TEAM MEMBERS</a:t>
            </a:r>
          </a:p>
          <a:p>
            <a:pPr marL="0" indent="0">
              <a:buNone/>
            </a:pPr>
            <a:r>
              <a:rPr lang="en-US" b="1" dirty="0"/>
              <a:t>2410030228-BIJJU ADITHI YADAV</a:t>
            </a:r>
          </a:p>
          <a:p>
            <a:pPr marL="0" indent="0">
              <a:buNone/>
            </a:pPr>
            <a:r>
              <a:rPr lang="en-US" b="1" dirty="0"/>
              <a:t>2410030076-KODALI NAGA SREEJA</a:t>
            </a:r>
          </a:p>
          <a:p>
            <a:pPr marL="0" indent="0">
              <a:buNone/>
            </a:pPr>
            <a:r>
              <a:rPr lang="en-US" b="1" dirty="0"/>
              <a:t>2410030180-ANUGU SHIVA KUMAR REDDY</a:t>
            </a:r>
          </a:p>
          <a:p>
            <a:pPr marL="0" indent="0">
              <a:buNone/>
            </a:pPr>
            <a:r>
              <a:rPr lang="en-US" b="1" dirty="0"/>
              <a:t>2410030396-KANDAKATLA MANISH REDDY</a:t>
            </a:r>
          </a:p>
          <a:p>
            <a:pPr marL="0" indent="0">
              <a:buNone/>
            </a:pPr>
            <a:endParaRPr lang="en-IN" b="1" dirty="0"/>
          </a:p>
        </p:txBody>
      </p:sp>
      <p:sp>
        <p:nvSpPr>
          <p:cNvPr id="66" name="Freeform 11">
            <a:extLst>
              <a:ext uri="{FF2B5EF4-FFF2-40B4-BE49-F238E27FC236}">
                <a16:creationId xmlns:a16="http://schemas.microsoft.com/office/drawing/2014/main" id="{5C6FA62F-E948-4EBA-AE1A-47CBEE9FC5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4189" y="5019122"/>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Tree>
    <p:extLst>
      <p:ext uri="{BB962C8B-B14F-4D97-AF65-F5344CB8AC3E}">
        <p14:creationId xmlns:p14="http://schemas.microsoft.com/office/powerpoint/2010/main" val="3530270289"/>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109</TotalTime>
  <Words>821</Words>
  <Application>Microsoft Office PowerPoint</Application>
  <PresentationFormat>Widescreen</PresentationFormat>
  <Paragraphs>39</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Arial Unicode MS</vt:lpstr>
      <vt:lpstr>Century Gothic</vt:lpstr>
      <vt:lpstr>Wingdings 3</vt:lpstr>
      <vt:lpstr>Wisp</vt:lpstr>
      <vt:lpstr>HOUSE PRICE ANALYSIS</vt:lpstr>
      <vt:lpstr>INTRODUCTION</vt:lpstr>
      <vt:lpstr>DATASET</vt:lpstr>
      <vt:lpstr>Dataset Analysis and House Price Prediction</vt:lpstr>
      <vt:lpstr>Interactive Visual Exploratory Data Analysis (EDA) for Predicting House Prices in Metro City</vt:lpstr>
      <vt:lpstr>House Prices and COVID‑19 Pandemic Shocks in India: A Nonlinear ARDL Analysis</vt:lpstr>
      <vt:lpstr>House Price Convergence: Evidence from India</vt:lpstr>
      <vt:lpstr>Predicting House Prices Using Multiple Listings Data</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Naga Sreeja Kodali</dc:creator>
  <cp:lastModifiedBy>Naga Sreeja Kodali</cp:lastModifiedBy>
  <cp:revision>11</cp:revision>
  <dcterms:created xsi:type="dcterms:W3CDTF">2025-08-05T07:44:05Z</dcterms:created>
  <dcterms:modified xsi:type="dcterms:W3CDTF">2025-11-06T13:11:01Z</dcterms:modified>
</cp:coreProperties>
</file>